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7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D200"/>
    <a:srgbClr val="49702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65" d="100"/>
          <a:sy n="65" d="100"/>
        </p:scale>
        <p:origin x="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4784-71AD-56A6-3079-1D7159336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F3E0C4-E97C-4108-2692-C0E1A2B04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D89D1-C2D5-A95F-E746-5DA9AD875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5588B-A1DF-22A1-6FE1-FFD07B133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66D01-5C69-938B-CB36-F5B769898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983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AD7A-FD75-627F-ED3A-064C2FE29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4C74B-D16E-B79D-1A43-D053C28FC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2A750-C24E-E047-E196-15768F1D4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95ED0-785D-7EE0-C51F-B24A4FAA0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94B68-6722-777B-AB6A-BB4909FB1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9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A982C-12FB-6D10-C9A3-BEC99DCC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6D1D1-EF5F-60DD-2AD0-AFC4BBCB9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A2B0E-AC4D-2F94-5439-DDD0DE22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E4570-34D3-5D04-0DDA-04815BF46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96DE0-7F8C-1BF9-4306-0B91C9B74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979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732B3-7E09-D3C5-3626-CCCCF6B77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042C4-1693-ED0A-1C18-BBD69FB723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64AC0-A0DA-83DB-923B-3F108FC93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68D71-28FF-F4F9-2854-581AB1FB3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A08D0-F00D-2FAD-626B-A8DE8154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EE45E-82B0-BA76-1429-87AF869C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059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C489D-FAF8-F190-0B84-66F58B97A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F40CD-F1FD-5601-9313-4CF7E4AD5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07BEC-63D5-7806-C87C-03555F127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C49AF-C1FB-085B-6A46-BCA736689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25A591-FEA2-17AE-9373-F13D2455DF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F56CB-03BB-0145-D6D6-A4E494E2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FF9102-F7F1-AD9A-E5EF-60D91957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B56146-CCE2-EBE7-3FCC-42EF25E37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58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C6475-0665-5715-5652-5DF1F4975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896FF-6D64-7DA8-5355-8DC517FDA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EFC762-02D8-DAC9-FD52-88D082425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67E4F8-9706-CFAE-CCB5-A0FB6C4B1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77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989421-5F04-679A-008C-9B3C3018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8A872-BB4B-FBBF-D678-DC567993A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210DD-0A31-25DF-3048-7686E0386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844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4D865-BE65-627D-D62D-2634214EF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B4B5F-9575-EA43-05F7-C955C240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7C5EA-9C7C-8B28-8FE6-A79E9604F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9B78D-806A-7C1D-5921-41501A86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A608A-FBAF-6543-74D1-6CFE361B7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10239-7AB1-651D-40D1-548BF111E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341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6D0A6-CA30-6DCB-5FFB-B99BE58B6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7EC9C7-8A56-FA80-92FB-CE301E0CC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72CCD-C684-D636-A7E1-93859108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5A4C63-5F79-61D7-3540-94C7C1183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46B8D-C876-9521-5166-7FB619168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573C6-C396-D672-CA52-E3C6E6E6D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276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304D-F4FE-DF2F-0FD4-EA008FD70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5559F-E6F4-DFCA-CBC1-7166A59F9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C39C6-1208-E193-93D8-3B64D6327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A2AA5-E432-3E62-8E38-3047B4E1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87407-58A0-0CF7-4237-48E1C001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037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4F1D8C-BBB4-6C80-6366-C3CA07A147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46B29-8457-738A-A8E7-DB3D0005C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D352B-12BF-5378-2930-EE0DCCBE8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671F7-65C9-110A-B283-BEC12258C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CA27E-8AC5-6CE1-5621-E3B5CECC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1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6A506-E250-E613-F61A-D19A83110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B48D4-84C1-47F4-DE42-58E43E6C7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39541-DEAA-D8C5-C71E-12E3B62B3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C446D-59A0-F6B0-0B9A-AC0CA1DF1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0698C-C92B-DF94-BF02-E08E8BE707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68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  <p:sldLayoutId id="2147484080" r:id="rId3"/>
    <p:sldLayoutId id="2147484081" r:id="rId4"/>
    <p:sldLayoutId id="2147484082" r:id="rId5"/>
    <p:sldLayoutId id="2147484083" r:id="rId6"/>
    <p:sldLayoutId id="2147484084" r:id="rId7"/>
    <p:sldLayoutId id="2147484085" r:id="rId8"/>
    <p:sldLayoutId id="2147484086" r:id="rId9"/>
    <p:sldLayoutId id="2147484087" r:id="rId10"/>
    <p:sldLayoutId id="21474840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802864" y="1011499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802864" y="1807905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802864" y="262782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864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162048" y="834953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162047" y="14183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139" y="2515763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Objective: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</a:rPr>
              <a:t>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	Additional KPI Metrics: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</a:rPr>
              <a:t>Assess how other KPIs (Average Sales, Number of Items, Average Rating) vary with fat content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/>
              <a:t>Objective</a:t>
            </a:r>
            <a:r>
              <a:rPr lang="en-US" altLang="en-US" sz="1600" dirty="0"/>
              <a:t>: Identify the performance of different item types in terms of total sales</a:t>
            </a:r>
            <a:r>
              <a:rPr lang="en-US" altLang="en-US" sz="1600" b="1" dirty="0"/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	Additional KPI Metrics: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</a:rPr>
              <a:t>Assess how other KPIs (Average Sales, Number of Items, Average Rating) vary with fat content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lang="en-US" altLang="en-US" sz="1600" b="1" dirty="0"/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/>
              <a:t>Objective: </a:t>
            </a:r>
            <a:r>
              <a:rPr lang="en-US" altLang="en-US" sz="1600" dirty="0"/>
              <a:t>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	Additional KPI Metrics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</a:rPr>
              <a:t>: Assess how other KPIs (Average Sales, Number of Items, Average Rating) vary with fat content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.</a:t>
            </a:r>
            <a:endParaRPr lang="en-US" alt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/>
              <a:t>Objective: </a:t>
            </a:r>
            <a:r>
              <a:rPr lang="en-US" altLang="en-US" sz="1600" dirty="0"/>
              <a:t>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39" y="119060"/>
            <a:ext cx="805020" cy="583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58502" y="97256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162048" y="155519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574" y="2952110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/>
              <a:t>Objective: </a:t>
            </a:r>
            <a:r>
              <a:rPr lang="en-US" altLang="en-US" dirty="0"/>
              <a:t>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/>
              <a:t>Objective</a:t>
            </a:r>
            <a:r>
              <a:rPr lang="en-US" altLang="en-US" dirty="0"/>
              <a:t>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/>
              <a:t>Objective: </a:t>
            </a:r>
            <a:r>
              <a:rPr lang="en-US" altLang="en-US" dirty="0"/>
              <a:t>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09" y="119060"/>
            <a:ext cx="913378" cy="661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471E0-7D5C-3825-2037-C62876D84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9812"/>
            <a:ext cx="11051457" cy="108244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dirty="0" err="1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400" dirty="0" err="1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4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4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br>
              <a:rPr lang="en-IN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E8B58C-7A54-00C7-3ED5-229BC7206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339"/>
            <a:ext cx="10515600" cy="47516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highlight>
                  <a:srgbClr val="000000"/>
                </a:highlight>
              </a:rPr>
              <a:t>STEPS IN PROJECT</a:t>
            </a:r>
          </a:p>
          <a:p>
            <a:r>
              <a:rPr lang="en-US" sz="2400" dirty="0"/>
              <a:t>Requirement Gathering/ Business Requirements</a:t>
            </a:r>
          </a:p>
          <a:p>
            <a:r>
              <a:rPr lang="en-US" sz="2400" dirty="0"/>
              <a:t>Data Walkthrough</a:t>
            </a:r>
          </a:p>
          <a:p>
            <a:r>
              <a:rPr lang="en-US" sz="2400" dirty="0"/>
              <a:t>Data Connection</a:t>
            </a:r>
          </a:p>
          <a:p>
            <a:r>
              <a:rPr lang="en-US" sz="2400" dirty="0"/>
              <a:t>Data Cleaning / Quality Check</a:t>
            </a:r>
          </a:p>
          <a:p>
            <a:r>
              <a:rPr lang="en-US" sz="2400" dirty="0"/>
              <a:t>Data Modeling</a:t>
            </a:r>
          </a:p>
          <a:p>
            <a:r>
              <a:rPr lang="en-US" sz="2400" dirty="0"/>
              <a:t>Data Processing</a:t>
            </a:r>
          </a:p>
          <a:p>
            <a:r>
              <a:rPr lang="en-US" sz="2400" dirty="0"/>
              <a:t>DAX Calculations</a:t>
            </a:r>
          </a:p>
          <a:p>
            <a:r>
              <a:rPr lang="en-US" sz="2400" dirty="0"/>
              <a:t>Dashboard Lay outing</a:t>
            </a:r>
          </a:p>
          <a:p>
            <a:r>
              <a:rPr lang="en-US" sz="2400" dirty="0"/>
              <a:t>Charts Development and Formatting</a:t>
            </a:r>
          </a:p>
          <a:p>
            <a:r>
              <a:rPr lang="en-US" sz="2400" dirty="0"/>
              <a:t>Dashboard / Report Development</a:t>
            </a:r>
          </a:p>
          <a:p>
            <a:r>
              <a:rPr lang="en-US" sz="2400" dirty="0"/>
              <a:t>Insights Generation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D3F7B2-C00E-161A-FC96-2E748FAFF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1268"/>
          <a:stretch>
            <a:fillRect/>
          </a:stretch>
        </p:blipFill>
        <p:spPr>
          <a:xfrm>
            <a:off x="350274" y="70986"/>
            <a:ext cx="741107" cy="67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52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C8E50-BEA4-14BB-4DB5-97D00C052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856"/>
            <a:ext cx="9144000" cy="113000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dirty="0" err="1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b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984435-DADB-A370-44A9-C14A1384C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04259"/>
            <a:ext cx="9144000" cy="5344885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bg1"/>
                </a:solidFill>
                <a:highlight>
                  <a:srgbClr val="000000"/>
                </a:highlight>
              </a:rPr>
              <a:t>BUSINESS REQUIREMENT</a:t>
            </a:r>
          </a:p>
          <a:p>
            <a:pPr algn="just"/>
            <a:r>
              <a:rPr lang="en-US" sz="2000" dirty="0"/>
              <a:t>To conduct a comprehensive analysis of </a:t>
            </a:r>
            <a:r>
              <a:rPr lang="en-US" sz="2000" dirty="0" err="1"/>
              <a:t>Blinkit's</a:t>
            </a:r>
            <a:r>
              <a:rPr lang="en-US" sz="2000" dirty="0"/>
              <a:t> sales performance, customer satisfaction, and inventory distribution to identify key insights and opportunities for optimization using various KPIs and visualizations in Power BI.</a:t>
            </a:r>
          </a:p>
          <a:p>
            <a:pPr algn="l"/>
            <a:r>
              <a:rPr lang="en-US" b="1" dirty="0">
                <a:solidFill>
                  <a:schemeClr val="bg1"/>
                </a:solidFill>
                <a:highlight>
                  <a:srgbClr val="000000"/>
                </a:highlight>
              </a:rPr>
              <a:t>KPI's Requirements</a:t>
            </a:r>
          </a:p>
          <a:p>
            <a:pPr algn="l"/>
            <a:r>
              <a:rPr lang="en-US" sz="2000" b="1" dirty="0"/>
              <a:t>1. Total Sales: </a:t>
            </a:r>
            <a:r>
              <a:rPr lang="en-US" sz="2000" dirty="0"/>
              <a:t>The overall revenue generated from all items sold.</a:t>
            </a:r>
          </a:p>
          <a:p>
            <a:pPr algn="l"/>
            <a:r>
              <a:rPr lang="en-US" sz="2000" b="1" dirty="0"/>
              <a:t>2. Average Sales: </a:t>
            </a:r>
            <a:r>
              <a:rPr lang="en-US" sz="2000" dirty="0"/>
              <a:t>The average revenue per sale.</a:t>
            </a:r>
          </a:p>
          <a:p>
            <a:pPr algn="l"/>
            <a:r>
              <a:rPr lang="en-US" sz="2000" b="1" dirty="0"/>
              <a:t>3. Number of Items: </a:t>
            </a:r>
            <a:r>
              <a:rPr lang="en-US" sz="2000" dirty="0"/>
              <a:t>The total count of different items sold.</a:t>
            </a:r>
          </a:p>
          <a:p>
            <a:pPr algn="l"/>
            <a:r>
              <a:rPr lang="en-US" sz="2000" b="1" dirty="0"/>
              <a:t>4. Average Rating: </a:t>
            </a:r>
            <a:r>
              <a:rPr lang="en-US" sz="2000" dirty="0"/>
              <a:t>The average customer rating for items sold.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0E0AFA-1F69-3CDC-93C7-F659ED52A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16" y="108856"/>
            <a:ext cx="666488" cy="64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933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DBF9A-B545-3306-2465-CBF6EADAC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074" y="0"/>
            <a:ext cx="10772775" cy="1658198"/>
          </a:xfrm>
        </p:spPr>
        <p:txBody>
          <a:bodyPr>
            <a:normAutofit/>
          </a:bodyPr>
          <a:lstStyle/>
          <a:p>
            <a:pPr algn="ctr"/>
            <a:r>
              <a:rPr lang="en-IN" sz="4000" dirty="0" err="1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br>
              <a:rPr lang="en-IN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41EFF-F2B8-CCC3-44E6-EC8BF3442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345"/>
            <a:ext cx="10515600" cy="548050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>
                <a:solidFill>
                  <a:schemeClr val="bg1"/>
                </a:solidFill>
                <a:highlight>
                  <a:srgbClr val="000000"/>
                </a:highlight>
              </a:rPr>
              <a:t>Chart's Requirements</a:t>
            </a:r>
          </a:p>
          <a:p>
            <a:pPr marL="0" indent="0">
              <a:buNone/>
            </a:pPr>
            <a:r>
              <a:rPr lang="en-US" sz="8000" b="1" dirty="0"/>
              <a:t>1. Total Sales by Fat Content:</a:t>
            </a:r>
          </a:p>
          <a:p>
            <a:pPr marL="0" indent="0">
              <a:buNone/>
            </a:pPr>
            <a:r>
              <a:rPr lang="en-US" sz="8000" dirty="0"/>
              <a:t>Objective: Analyze the impact of fat content on total sales.</a:t>
            </a:r>
          </a:p>
          <a:p>
            <a:pPr marL="0" indent="0">
              <a:buNone/>
            </a:pPr>
            <a:r>
              <a:rPr lang="en-US" sz="8000" b="1" dirty="0"/>
              <a:t>Additional KPI Metrics: </a:t>
            </a:r>
            <a:r>
              <a:rPr lang="en-US" sz="8000" dirty="0"/>
              <a:t>Assess how other KPIs (Average Sales, Number of Items, Average Rating) vary with fat content. </a:t>
            </a:r>
            <a:r>
              <a:rPr lang="en-US" sz="8000" b="1" dirty="0"/>
              <a:t>Chart Type</a:t>
            </a:r>
            <a:r>
              <a:rPr lang="en-US" sz="8000" dirty="0"/>
              <a:t>: Donut Chart.</a:t>
            </a:r>
          </a:p>
          <a:p>
            <a:pPr marL="0" indent="0">
              <a:buNone/>
            </a:pPr>
            <a:r>
              <a:rPr lang="en-US" sz="8000" b="1" dirty="0"/>
              <a:t>2. Total Sales by Item Type:</a:t>
            </a:r>
          </a:p>
          <a:p>
            <a:pPr marL="0" indent="0">
              <a:buNone/>
            </a:pPr>
            <a:r>
              <a:rPr lang="en-US" sz="8000" dirty="0"/>
              <a:t>Objective: Identify the performance of different item types in terms of total sales.</a:t>
            </a:r>
          </a:p>
          <a:p>
            <a:pPr marL="0" indent="0">
              <a:buNone/>
            </a:pPr>
            <a:r>
              <a:rPr lang="en-US" sz="8000" b="1" dirty="0"/>
              <a:t>Additional KPI Metrics: </a:t>
            </a:r>
            <a:r>
              <a:rPr lang="en-US" sz="8000" dirty="0"/>
              <a:t>Assess how other KPIs (Average Sales, Number of Items, Average Rating) vary with fat content. </a:t>
            </a:r>
            <a:r>
              <a:rPr lang="en-US" sz="8000" b="1" dirty="0"/>
              <a:t>Chart Type</a:t>
            </a:r>
            <a:r>
              <a:rPr lang="en-US" sz="8000" dirty="0"/>
              <a:t>: Bar Chart.</a:t>
            </a:r>
          </a:p>
          <a:p>
            <a:pPr marL="0" indent="0">
              <a:buNone/>
            </a:pPr>
            <a:r>
              <a:rPr lang="en-US" sz="8000" b="1" dirty="0"/>
              <a:t>3. Fat Content by Outlet for Total Sales:</a:t>
            </a:r>
          </a:p>
          <a:p>
            <a:pPr marL="0" indent="0">
              <a:buNone/>
            </a:pPr>
            <a:r>
              <a:rPr lang="en-US" sz="8000" dirty="0"/>
              <a:t>Objective: Compare total sales across different outlets segmented by fat content.</a:t>
            </a:r>
          </a:p>
          <a:p>
            <a:pPr marL="0" indent="0">
              <a:buNone/>
            </a:pPr>
            <a:r>
              <a:rPr lang="en-US" sz="8000" dirty="0"/>
              <a:t>Additional KPI Metrics: Assess how other KPIs (Average Sales, Number of Items, Average Rating) vary with fat content. </a:t>
            </a:r>
            <a:r>
              <a:rPr lang="en-US" sz="8000" b="1" dirty="0"/>
              <a:t>Chart Type: </a:t>
            </a:r>
            <a:r>
              <a:rPr lang="en-US" sz="8000" dirty="0"/>
              <a:t>Stacked Column Chart.</a:t>
            </a:r>
          </a:p>
          <a:p>
            <a:pPr marL="0" indent="0">
              <a:buNone/>
            </a:pPr>
            <a:r>
              <a:rPr lang="en-US" sz="8000" b="1" dirty="0"/>
              <a:t>4. Total Sales by Outlet Establishment:</a:t>
            </a:r>
          </a:p>
          <a:p>
            <a:pPr marL="0" indent="0">
              <a:buNone/>
            </a:pPr>
            <a:r>
              <a:rPr lang="en-US" sz="8000" dirty="0"/>
              <a:t>Objective: Evaluate how the age or type of outlet establishment influences total sales.</a:t>
            </a:r>
          </a:p>
          <a:p>
            <a:pPr marL="0" indent="0">
              <a:buNone/>
            </a:pPr>
            <a:r>
              <a:rPr lang="en-US" sz="8000" b="1" dirty="0"/>
              <a:t>Chart Type: </a:t>
            </a:r>
            <a:r>
              <a:rPr lang="en-US" sz="8000" dirty="0"/>
              <a:t>Line Chart.</a:t>
            </a:r>
            <a:endParaRPr lang="en-IN" sz="8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8CFF87-5ADF-B338-C386-67F68030E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01" y="129151"/>
            <a:ext cx="635512" cy="61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455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577BA-AE69-D392-C47F-4C55AB49D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312" y="0"/>
            <a:ext cx="10772775" cy="1658198"/>
          </a:xfrm>
        </p:spPr>
        <p:txBody>
          <a:bodyPr>
            <a:normAutofit/>
          </a:bodyPr>
          <a:lstStyle/>
          <a:p>
            <a:pPr algn="ctr"/>
            <a:r>
              <a:rPr lang="en-IN" sz="4000" dirty="0" err="1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br>
              <a:rPr lang="en-IN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81E94-3B9F-B00A-3C8A-F75A6C126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012" y="1469640"/>
            <a:ext cx="10515600" cy="49311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highlight>
                  <a:srgbClr val="000000"/>
                </a:highlight>
              </a:rPr>
              <a:t>BUSINESS REQUIREMENT 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highlight>
                  <a:srgbClr val="000000"/>
                </a:highlight>
              </a:rPr>
              <a:t>Chart's Requirements</a:t>
            </a:r>
          </a:p>
          <a:p>
            <a:pPr marL="0" indent="0">
              <a:buNone/>
            </a:pPr>
            <a:r>
              <a:rPr lang="en-US" sz="2600" dirty="0"/>
              <a:t> </a:t>
            </a:r>
            <a:r>
              <a:rPr lang="en-US" sz="2000" b="1" dirty="0"/>
              <a:t>5. Sales by Outlet Size: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b="1" dirty="0"/>
              <a:t>Objective : </a:t>
            </a:r>
            <a:r>
              <a:rPr lang="en-US" sz="2000" dirty="0"/>
              <a:t>Analyze the correlation between outlet size and total sales. </a:t>
            </a:r>
            <a:r>
              <a:rPr lang="en-US" sz="2000" b="1" dirty="0"/>
              <a:t>Chart Type: </a:t>
            </a:r>
            <a:r>
              <a:rPr lang="en-US" sz="2000" dirty="0"/>
              <a:t>Donut/ Pie Chart.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b="1" dirty="0"/>
              <a:t>6. Sales by Outlet Location:</a:t>
            </a:r>
          </a:p>
          <a:p>
            <a:pPr marL="0" indent="0">
              <a:buNone/>
            </a:pPr>
            <a:r>
              <a:rPr lang="en-US" sz="2000" b="1" dirty="0"/>
              <a:t> Objective : </a:t>
            </a:r>
            <a:r>
              <a:rPr lang="en-US" sz="2000" dirty="0"/>
              <a:t>Assess the geographic distribution of sales across different locations. </a:t>
            </a:r>
          </a:p>
          <a:p>
            <a:pPr marL="0" indent="0">
              <a:buNone/>
            </a:pPr>
            <a:r>
              <a:rPr lang="en-US" sz="2000" dirty="0"/>
              <a:t>  </a:t>
            </a:r>
            <a:r>
              <a:rPr lang="en-US" sz="2000" b="1" dirty="0"/>
              <a:t>Chart Type: </a:t>
            </a:r>
            <a:r>
              <a:rPr lang="en-US" sz="2000" dirty="0"/>
              <a:t>Funnel Map.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b="1" dirty="0"/>
              <a:t>7. All Metrics by Outlet Type: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b="1" dirty="0"/>
              <a:t>Objective: </a:t>
            </a:r>
            <a:r>
              <a:rPr lang="en-US" sz="2000" dirty="0"/>
              <a:t>Provide a comprehensive view of all key metrics (Total Sales, Average Sales, Number of Items, Average Rating) broken down by different outlet types. </a:t>
            </a:r>
            <a:r>
              <a:rPr lang="en-US" sz="2000" b="1" dirty="0"/>
              <a:t>Chart Type: </a:t>
            </a:r>
            <a:r>
              <a:rPr lang="en-US" sz="2000" dirty="0"/>
              <a:t>Matrix Card.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E73CEF-4D6A-F3D2-C923-616E6575D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61" y="110000"/>
            <a:ext cx="665752" cy="64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69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80E6F-0BB9-BFDB-3C96-C9F511FE9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566" y="0"/>
            <a:ext cx="10772775" cy="1658198"/>
          </a:xfrm>
        </p:spPr>
        <p:txBody>
          <a:bodyPr>
            <a:normAutofit/>
          </a:bodyPr>
          <a:lstStyle/>
          <a:p>
            <a:pPr algn="ctr"/>
            <a:r>
              <a:rPr lang="en-IN" sz="4000" dirty="0" err="1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br>
              <a:rPr lang="en-IN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8F12F-29E0-3E8B-D62B-179F7FC04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885" y="2104103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highlight>
                  <a:srgbClr val="000000"/>
                </a:highlight>
              </a:rPr>
              <a:t>BUSINESS REQUIREMENT </a:t>
            </a:r>
            <a:endParaRPr lang="en-US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0" indent="0">
              <a:buNone/>
            </a:pPr>
            <a:r>
              <a:rPr lang="en-US" sz="2000" dirty="0"/>
              <a:t>To conduct a comprehensive analysis of </a:t>
            </a:r>
            <a:r>
              <a:rPr lang="en-US" sz="2000" dirty="0" err="1"/>
              <a:t>Blinkit's</a:t>
            </a:r>
            <a:r>
              <a:rPr lang="en-US" sz="2000" dirty="0"/>
              <a:t> sales performance, customer satisfaction, and inventory distribution to identify key insights and opportunities for optimization using various KPIs and visualizations in Power BI.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</a:rPr>
              <a:t>KPI's Requirements</a:t>
            </a:r>
          </a:p>
          <a:p>
            <a:pPr marL="0" indent="0">
              <a:buNone/>
            </a:pPr>
            <a:r>
              <a:rPr lang="en-US" sz="2000" b="1" dirty="0"/>
              <a:t>1. Total Sales: </a:t>
            </a:r>
            <a:r>
              <a:rPr lang="en-US" sz="2000" dirty="0"/>
              <a:t>The overall revenue generated from all items sold.</a:t>
            </a:r>
          </a:p>
          <a:p>
            <a:pPr marL="0" indent="0">
              <a:buNone/>
            </a:pPr>
            <a:r>
              <a:rPr lang="en-US" sz="2000" b="1" dirty="0"/>
              <a:t>2. Average Sales: </a:t>
            </a:r>
            <a:r>
              <a:rPr lang="en-US" sz="2000" dirty="0"/>
              <a:t>The average revenue per sale.</a:t>
            </a:r>
          </a:p>
          <a:p>
            <a:pPr marL="0" indent="0">
              <a:buNone/>
            </a:pPr>
            <a:r>
              <a:rPr lang="en-US" sz="2000" b="1" dirty="0"/>
              <a:t>3. Number of Items: </a:t>
            </a:r>
            <a:r>
              <a:rPr lang="en-US" sz="2000" dirty="0"/>
              <a:t>The total count of different items sold.</a:t>
            </a:r>
          </a:p>
          <a:p>
            <a:pPr marL="0" indent="0">
              <a:buNone/>
            </a:pPr>
            <a:r>
              <a:rPr lang="en-US" sz="2000" b="1" dirty="0"/>
              <a:t>4. Average Rating: </a:t>
            </a:r>
            <a:r>
              <a:rPr lang="en-US" sz="2000" dirty="0"/>
              <a:t>The average customer rating for items sold.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576FA1-C0C0-1936-0978-F731C92D7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43" y="149443"/>
            <a:ext cx="634642" cy="63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7B7DC-D30B-E2B2-0866-BA1700891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368" y="0"/>
            <a:ext cx="10772775" cy="1658198"/>
          </a:xfrm>
        </p:spPr>
        <p:txBody>
          <a:bodyPr>
            <a:normAutofit/>
          </a:bodyPr>
          <a:lstStyle/>
          <a:p>
            <a:pPr algn="ctr"/>
            <a:r>
              <a:rPr lang="en-IN" sz="4000" dirty="0" err="1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br>
              <a:rPr lang="en-IN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E8507-822C-9179-EDFA-E70A24C7D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22" y="1178256"/>
            <a:ext cx="10515600" cy="57878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highlight>
                  <a:srgbClr val="000000"/>
                </a:highlight>
              </a:rPr>
              <a:t>BUSINESS REQUIREMENT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</a:rPr>
              <a:t>Chart's Requirement</a:t>
            </a:r>
          </a:p>
          <a:p>
            <a:pPr marL="0" indent="0">
              <a:buNone/>
            </a:pPr>
            <a:r>
              <a:rPr lang="en-US" sz="2000" b="1" dirty="0"/>
              <a:t>1. Total Sales by Fat Content:</a:t>
            </a:r>
          </a:p>
          <a:p>
            <a:r>
              <a:rPr lang="en-US" sz="2000" b="1" dirty="0"/>
              <a:t>Objective: </a:t>
            </a:r>
            <a:r>
              <a:rPr lang="en-US" sz="2000" dirty="0"/>
              <a:t>Analyze the impact of fat content on total sales.</a:t>
            </a:r>
          </a:p>
          <a:p>
            <a:r>
              <a:rPr lang="en-US" sz="2000" b="1" dirty="0"/>
              <a:t>Additional KPI Metrics: </a:t>
            </a:r>
            <a:r>
              <a:rPr lang="en-US" sz="2000" dirty="0"/>
              <a:t>Assess how other KPIs (Average Sales, Number of Items, Average Rating) vary with fat content. Chart Type: Donut Chart.</a:t>
            </a:r>
          </a:p>
          <a:p>
            <a:pPr marL="0" indent="0">
              <a:buNone/>
            </a:pPr>
            <a:r>
              <a:rPr lang="en-US" sz="2000" b="1" dirty="0"/>
              <a:t>2. Total Sales by Item Type:</a:t>
            </a:r>
          </a:p>
          <a:p>
            <a:pPr marL="0" indent="0">
              <a:buNone/>
            </a:pPr>
            <a:r>
              <a:rPr lang="en-US" sz="2000" b="1" dirty="0"/>
              <a:t>  Objective: </a:t>
            </a:r>
            <a:r>
              <a:rPr lang="en-US" sz="2000" dirty="0"/>
              <a:t>Identify the performance of different item types in terms of total sales.</a:t>
            </a:r>
          </a:p>
          <a:p>
            <a:r>
              <a:rPr lang="en-US" sz="2000" b="1" dirty="0"/>
              <a:t>Additional KPI Metrics: </a:t>
            </a:r>
            <a:r>
              <a:rPr lang="en-US" sz="2000" dirty="0"/>
              <a:t>Assess how other KPIs (Average Sales, Number of Items, Average Rating) vary with fat content. Chart Type: Bar Chart.</a:t>
            </a:r>
          </a:p>
          <a:p>
            <a:pPr marL="0" indent="0">
              <a:buNone/>
            </a:pPr>
            <a:r>
              <a:rPr lang="en-US" sz="2000" b="1" dirty="0"/>
              <a:t>3. Fat Content by Outlet for Total Sales:</a:t>
            </a:r>
          </a:p>
          <a:p>
            <a:r>
              <a:rPr lang="en-US" sz="2000" b="1" dirty="0"/>
              <a:t>Objective: </a:t>
            </a:r>
            <a:r>
              <a:rPr lang="en-US" sz="2000" dirty="0"/>
              <a:t>Compare total sales across different outlets segmented by fat content.</a:t>
            </a:r>
          </a:p>
          <a:p>
            <a:r>
              <a:rPr lang="en-US" sz="2000" b="1" dirty="0"/>
              <a:t>Additional KPI Metrics: </a:t>
            </a:r>
            <a:r>
              <a:rPr lang="en-US" sz="2000" dirty="0"/>
              <a:t>Assess how other KPIs (Average Sales, Number of Items, Average Rating) vary with fat content. Chart Type: Stacked Column Chart.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B00391-4D5D-F8D9-76AF-B3E137D7D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201" y="100294"/>
            <a:ext cx="652308" cy="65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87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64A10-7013-13C2-0AD4-A34CA88DB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882" y="16475"/>
            <a:ext cx="10772775" cy="1173228"/>
          </a:xfrm>
        </p:spPr>
        <p:txBody>
          <a:bodyPr>
            <a:normAutofit/>
          </a:bodyPr>
          <a:lstStyle/>
          <a:p>
            <a:pPr algn="ctr"/>
            <a:r>
              <a:rPr lang="en-IN" sz="4000" dirty="0" err="1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5EA77-F6DE-ED46-C478-0D1B3A175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576" y="2202426"/>
            <a:ext cx="8915400" cy="37776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highlight>
                  <a:srgbClr val="000000"/>
                </a:highlight>
              </a:rPr>
              <a:t>BUSINESS REQUIREMENT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</a:rPr>
              <a:t>Chart's Requirements </a:t>
            </a:r>
          </a:p>
          <a:p>
            <a:pPr marL="0" indent="0">
              <a:buNone/>
            </a:pPr>
            <a:r>
              <a:rPr lang="en-US" sz="2000" b="1" dirty="0"/>
              <a:t>4. Total Sales by Outlet Establishment: </a:t>
            </a:r>
          </a:p>
          <a:p>
            <a:pPr marL="0" indent="0">
              <a:buNone/>
            </a:pPr>
            <a:r>
              <a:rPr lang="en-US" sz="2000" b="1" dirty="0"/>
              <a:t>Objective: </a:t>
            </a:r>
            <a:r>
              <a:rPr lang="en-US" sz="2000" dirty="0"/>
              <a:t>Evaluate how the age or type of outlet establishment influences total sales. Chart Type: Line Chart.</a:t>
            </a:r>
          </a:p>
          <a:p>
            <a:pPr marL="0" indent="0">
              <a:buNone/>
            </a:pPr>
            <a:r>
              <a:rPr lang="en-US" sz="2000" b="1" dirty="0"/>
              <a:t> 5. Sales by Outlet Size: </a:t>
            </a:r>
          </a:p>
          <a:p>
            <a:pPr marL="0" indent="0">
              <a:buNone/>
            </a:pPr>
            <a:r>
              <a:rPr lang="en-US" sz="2000" b="1" dirty="0"/>
              <a:t>Objective: </a:t>
            </a:r>
            <a:r>
              <a:rPr lang="en-US" sz="2000" dirty="0"/>
              <a:t>Analyze the correlation between outlet size and total sales.  Chart Type: Donut/ Pie Chart. </a:t>
            </a:r>
          </a:p>
          <a:p>
            <a:pPr marL="0" indent="0">
              <a:buNone/>
            </a:pPr>
            <a:r>
              <a:rPr lang="en-US" sz="2000" b="1" dirty="0"/>
              <a:t>6. Sales by Outlet Location: </a:t>
            </a:r>
          </a:p>
          <a:p>
            <a:pPr marL="0" indent="0">
              <a:buNone/>
            </a:pPr>
            <a:r>
              <a:rPr lang="en-US" sz="2000" b="1" dirty="0"/>
              <a:t>Objective: </a:t>
            </a:r>
            <a:r>
              <a:rPr lang="en-US" sz="2000" dirty="0"/>
              <a:t>Assess the geographic distribution of sales across different locations. Chart Type: Funnel Map.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2F3036-08EC-EE33-99E2-C93C9E0E4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338" y="181025"/>
            <a:ext cx="615387" cy="61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072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357C8-C82B-0C8A-0E6A-0DDC2E249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029"/>
            <a:ext cx="10515600" cy="894275"/>
          </a:xfrm>
        </p:spPr>
        <p:txBody>
          <a:bodyPr>
            <a:normAutofit/>
          </a:bodyPr>
          <a:lstStyle/>
          <a:p>
            <a:pPr algn="ctr"/>
            <a:r>
              <a:rPr lang="en-IN" sz="4000" dirty="0" err="1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5BF01-C391-F2ED-AA97-CBE8075D6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058" y="2025445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highlight>
                  <a:srgbClr val="000000"/>
                </a:highlight>
              </a:rPr>
              <a:t>BUSINESS REQUIREMENT</a:t>
            </a:r>
          </a:p>
          <a:p>
            <a:pPr marL="0" indent="0">
              <a:buNone/>
            </a:pPr>
            <a:r>
              <a:rPr lang="en-US" sz="2000" dirty="0"/>
              <a:t>To conduct a comprehensive analysis of </a:t>
            </a:r>
            <a:r>
              <a:rPr lang="en-US" sz="2000" dirty="0" err="1"/>
              <a:t>Blinkit's</a:t>
            </a:r>
            <a:r>
              <a:rPr lang="en-US" sz="2000" dirty="0"/>
              <a:t> sales performance, customer satisfaction, and inventory distribution to identify key insights and opportunities for optimization using various KPIs and visualizations in Power BI.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highlight>
                  <a:srgbClr val="000000"/>
                </a:highlight>
              </a:rPr>
              <a:t>KPI's Requirements</a:t>
            </a:r>
          </a:p>
          <a:p>
            <a:pPr marL="0" indent="0">
              <a:buNone/>
            </a:pPr>
            <a:r>
              <a:rPr lang="en-US" sz="2000" b="1" dirty="0"/>
              <a:t>1. Total Sales: </a:t>
            </a:r>
            <a:r>
              <a:rPr lang="en-US" sz="2000" dirty="0"/>
              <a:t>The overall revenue generated from all items sold.</a:t>
            </a:r>
          </a:p>
          <a:p>
            <a:pPr marL="0" indent="0">
              <a:buNone/>
            </a:pPr>
            <a:r>
              <a:rPr lang="en-US" sz="2000" dirty="0"/>
              <a:t>2</a:t>
            </a:r>
            <a:r>
              <a:rPr lang="en-US" sz="2000" b="1" dirty="0"/>
              <a:t>. Average Sales: </a:t>
            </a:r>
            <a:r>
              <a:rPr lang="en-US" sz="2000" dirty="0"/>
              <a:t>The average revenue per sale.</a:t>
            </a:r>
          </a:p>
          <a:p>
            <a:pPr marL="0" indent="0">
              <a:buNone/>
            </a:pPr>
            <a:r>
              <a:rPr lang="en-US" sz="2000" b="1" dirty="0"/>
              <a:t>3. Number of Items: </a:t>
            </a:r>
            <a:r>
              <a:rPr lang="en-US" sz="2000" dirty="0"/>
              <a:t>The total count of different items sold.</a:t>
            </a:r>
          </a:p>
          <a:p>
            <a:pPr marL="0" indent="0">
              <a:buNone/>
            </a:pPr>
            <a:r>
              <a:rPr lang="en-US" sz="2000" dirty="0"/>
              <a:t>4. </a:t>
            </a:r>
            <a:r>
              <a:rPr lang="en-US" sz="2000" b="1" dirty="0"/>
              <a:t>Average Rating: </a:t>
            </a:r>
            <a:r>
              <a:rPr lang="en-US" sz="2000" dirty="0"/>
              <a:t>The average customer rating for items sold.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291A6B-FDEE-25CA-1543-9415A4633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64" y="163379"/>
            <a:ext cx="744777" cy="69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208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F9E3D-88F5-7DB2-A7D9-3D3FED139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898" y="-16335"/>
            <a:ext cx="10373902" cy="128089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400" dirty="0" err="1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400" dirty="0" err="1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4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  <a:br>
              <a:rPr lang="en-IN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3F60B-3242-F4A0-9CA2-F75095BF2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5684"/>
            <a:ext cx="10515600" cy="420820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/>
              <a:t>5. Sales by Outlet Size:</a:t>
            </a:r>
          </a:p>
          <a:p>
            <a:pPr marL="0" indent="0" algn="just">
              <a:buNone/>
            </a:pPr>
            <a:r>
              <a:rPr lang="en-US" sz="2000" b="1" dirty="0"/>
              <a:t>Objective: </a:t>
            </a:r>
            <a:r>
              <a:rPr lang="en-US" sz="2000" dirty="0"/>
              <a:t>Analyze the correlation between outlet size and total sales.</a:t>
            </a:r>
          </a:p>
          <a:p>
            <a:pPr marL="0" indent="0" algn="just">
              <a:buNone/>
            </a:pPr>
            <a:r>
              <a:rPr lang="en-US" sz="2000" b="1" dirty="0"/>
              <a:t>Chart Type: </a:t>
            </a:r>
            <a:r>
              <a:rPr lang="en-US" sz="2000" dirty="0"/>
              <a:t>Donut/ Pie Chart.</a:t>
            </a:r>
          </a:p>
          <a:p>
            <a:pPr marL="0" indent="0" algn="just">
              <a:buNone/>
            </a:pPr>
            <a:r>
              <a:rPr lang="en-US" sz="2000" b="1" dirty="0"/>
              <a:t>6. Sales by Outlet Location:</a:t>
            </a:r>
          </a:p>
          <a:p>
            <a:pPr marL="0" indent="0" algn="just">
              <a:buNone/>
            </a:pPr>
            <a:r>
              <a:rPr lang="en-US" sz="2000" b="1" dirty="0"/>
              <a:t>Objective: </a:t>
            </a:r>
            <a:r>
              <a:rPr lang="en-US" sz="2000" dirty="0"/>
              <a:t>Assess the geographic distribution of sales across different locations. </a:t>
            </a:r>
            <a:r>
              <a:rPr lang="en-US" sz="2000" b="1" dirty="0"/>
              <a:t>Chart Type: </a:t>
            </a:r>
            <a:r>
              <a:rPr lang="en-US" sz="2000" dirty="0"/>
              <a:t>Funnel Map.</a:t>
            </a:r>
          </a:p>
          <a:p>
            <a:pPr marL="0" indent="0" algn="just">
              <a:buNone/>
            </a:pPr>
            <a:r>
              <a:rPr lang="en-US" sz="2000" dirty="0"/>
              <a:t>7. </a:t>
            </a:r>
            <a:r>
              <a:rPr lang="en-US" sz="2000" b="1" dirty="0"/>
              <a:t>All Metrics by Outlet Type:</a:t>
            </a:r>
          </a:p>
          <a:p>
            <a:pPr marL="0" indent="0" algn="just">
              <a:buNone/>
            </a:pPr>
            <a:r>
              <a:rPr lang="en-US" sz="2000" b="1" dirty="0"/>
              <a:t>Objective: </a:t>
            </a:r>
            <a:r>
              <a:rPr lang="en-US" sz="2000" dirty="0"/>
              <a:t>Provide a comprehensive view of all key metrics (Total Sales, Average Sales, Number of Items, Average Rating) broken down by different outlet types. </a:t>
            </a:r>
            <a:r>
              <a:rPr lang="en-US" sz="2000" b="1" dirty="0"/>
              <a:t>Chart Type: </a:t>
            </a:r>
            <a:r>
              <a:rPr lang="en-US" sz="2000" dirty="0"/>
              <a:t>Matrix Card.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6B462C-DB12-DB0D-BB97-FD377ACEC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556" y="162231"/>
            <a:ext cx="702115" cy="65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986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677</TotalTime>
  <Words>1315</Words>
  <Application>Microsoft Office PowerPoint</Application>
  <PresentationFormat>Widescreen</PresentationFormat>
  <Paragraphs>121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  <vt:lpstr>blinkit Analysis </vt:lpstr>
      <vt:lpstr>blinkit Analysis </vt:lpstr>
      <vt:lpstr>blinkit Analysis </vt:lpstr>
      <vt:lpstr>blinkit Analysis </vt:lpstr>
      <vt:lpstr>blinkit Analysis </vt:lpstr>
      <vt:lpstr>blinkit Analysis </vt:lpstr>
      <vt:lpstr>blinkit Analysis</vt:lpstr>
      <vt:lpstr>blinkit Analysis</vt:lpstr>
      <vt:lpstr>blinkit Analysis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Pushpendra Kumar</dc:creator>
  <cp:lastModifiedBy>Pushpendra Kumar</cp:lastModifiedBy>
  <cp:revision>24</cp:revision>
  <dcterms:created xsi:type="dcterms:W3CDTF">2024-06-24T12:27:37Z</dcterms:created>
  <dcterms:modified xsi:type="dcterms:W3CDTF">2026-03-28T13:09:50Z</dcterms:modified>
</cp:coreProperties>
</file>